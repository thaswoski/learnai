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C语言程序设计：函数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0"/>
            <a:ext cx="9418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CCCDD"/>
                </a:solidFill>
              </a:defRPr>
            </a:pPr>
            <a:r>
              <a:t>从基础到实践，掌握函数编程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754880"/>
            <a:ext cx="9418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999BB"/>
                </a:solidFill>
              </a:defRPr>
            </a:pPr>
            <a:r>
              <a:t>软件工程课程组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3600" b="1">
                <a:solidFill>
                  <a:srgbClr val="1A1A2E"/>
                </a:solidFill>
              </a:defRPr>
            </a:pPr>
            <a:r>
              <a:t>为什么需要函数？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08760"/>
            <a:ext cx="1828800" cy="54864"/>
          </a:xfrm>
          <a:prstGeom prst="rect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5943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避免重复代码，提高复用性</a:t>
            </a:r>
          </a:p>
          <a:p>
            <a:pPr algn="l"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分解复杂问题，模块化设计</a:t>
            </a:r>
          </a:p>
          <a:p>
            <a:pPr algn="l"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增强代码可读性与可维护性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011680"/>
            <a:ext cx="43891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3600" b="1">
                <a:solidFill>
                  <a:srgbClr val="1A1A2E"/>
                </a:solidFill>
              </a:defRPr>
            </a:pPr>
            <a:r>
              <a:t>函数的定义与组成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08760"/>
            <a:ext cx="1828800" cy="54864"/>
          </a:xfrm>
          <a:prstGeom prst="rect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5943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返回值类型、函数名、参数列表</a:t>
            </a:r>
          </a:p>
          <a:p>
            <a:pPr algn="l"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函数体：实现具体功能</a:t>
            </a:r>
          </a:p>
          <a:p>
            <a:pPr algn="l"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声明在前，定义在后（或合一）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011680"/>
            <a:ext cx="43891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3600" b="1">
                <a:solidFill>
                  <a:srgbClr val="1A1A2E"/>
                </a:solidFill>
              </a:defRPr>
            </a:pPr>
            <a:r>
              <a:t>函数的参数传递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08760"/>
            <a:ext cx="1828800" cy="54864"/>
          </a:xfrm>
          <a:prstGeom prst="rect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5943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值传递：形参是实参的副本</a:t>
            </a:r>
          </a:p>
          <a:p>
            <a:pPr algn="l"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地址传递：通过指针修改实参</a:t>
            </a:r>
          </a:p>
          <a:p>
            <a:pPr algn="l"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数组作为参数：传递首地址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011680"/>
            <a:ext cx="43891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3600" b="1">
                <a:solidFill>
                  <a:srgbClr val="1A1A2E"/>
                </a:solidFill>
              </a:defRPr>
            </a:pPr>
            <a:r>
              <a:t>函数的返回值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08760"/>
            <a:ext cx="1828800" cy="54864"/>
          </a:xfrm>
          <a:prstGeom prst="rect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9966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return 语句返回值并结束函数</a:t>
            </a:r>
          </a:p>
          <a:p>
            <a:pPr algn="l"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返回值类型需与声明一致</a:t>
            </a:r>
          </a:p>
          <a:p>
            <a:pPr algn="l"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void 函数无返回值，可省略return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3600" b="1">
                <a:solidFill>
                  <a:srgbClr val="1A1A2E"/>
                </a:solidFill>
              </a:defRPr>
            </a:pPr>
            <a:r>
              <a:t>变量的作用域与生命周期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08760"/>
            <a:ext cx="1828800" cy="54864"/>
          </a:xfrm>
          <a:prstGeom prst="rect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9966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局部变量：函数内部定义，出函数释放</a:t>
            </a:r>
          </a:p>
          <a:p>
            <a:pPr algn="l"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全局变量：函数外部定义，整个程序有效</a:t>
            </a:r>
          </a:p>
          <a:p>
            <a:pPr algn="l"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静态局部变量：static修饰，值保留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3600" b="1">
                <a:solidFill>
                  <a:srgbClr val="1A1A2E"/>
                </a:solidFill>
              </a:defRPr>
            </a:pPr>
            <a:r>
              <a:t>递归函数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08760"/>
            <a:ext cx="1828800" cy="54864"/>
          </a:xfrm>
          <a:prstGeom prst="rect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9966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函数直接或间接调用自身</a:t>
            </a:r>
          </a:p>
          <a:p>
            <a:pPr algn="l"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必须有终止条件防止死循环</a:t>
            </a:r>
          </a:p>
          <a:p>
            <a:pPr algn="l"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经典案例：阶乘、斐波那契数列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1A1A2E"/>
                </a:solidFill>
              </a:defRPr>
            </a:pPr>
            <a:r>
              <a:t>常用标准库函数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08760"/>
            <a:ext cx="1828800" cy="54864"/>
          </a:xfrm>
          <a:prstGeom prst="rect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97280" y="2011680"/>
          <a:ext cx="99669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2320"/>
                <a:gridCol w="3322320"/>
                <a:gridCol w="332232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函数</a:t>
                      </a:r>
                    </a:p>
                  </a:txBody>
                  <a:tcPr>
                    <a:solidFill>
                      <a:srgbClr val="165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头文件</a:t>
                      </a:r>
                    </a:p>
                  </a:txBody>
                  <a:tcPr>
                    <a:solidFill>
                      <a:srgbClr val="165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功能</a:t>
                      </a:r>
                    </a:p>
                  </a:txBody>
                  <a:tcPr>
                    <a:solidFill>
                      <a:srgbClr val="165D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printf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stdio.h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格式化输出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scanf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stdio.h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格式化输入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sqrt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math.h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计算平方根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strlen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string.h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求字符串长度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3200" b="1">
                <a:solidFill>
                  <a:srgbClr val="165DFF"/>
                </a:solidFill>
              </a:defRPr>
            </a:pPr>
            <a:r>
              <a:t>📚 搜索资源</a:t>
            </a:r>
          </a:p>
        </p:txBody>
      </p:sp>
      <p:sp>
        <p:nvSpPr>
          <p:cNvPr id="3" name="Rectangle 2"/>
          <p:cNvSpPr/>
          <p:nvPr/>
        </p:nvSpPr>
        <p:spPr>
          <a:xfrm>
            <a:off x="9601200" y="457200"/>
            <a:ext cx="1645920" cy="914400"/>
          </a:xfrm>
          <a:prstGeom prst="rect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/>
            </a:pPr>
            <a:r>
              <a:t>🔍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1.  函数（Function） - CSDN博客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468880"/>
            <a:ext cx="99669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2.  基础定义 - 搜狗百科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108960"/>
            <a:ext cx="9966960" cy="54864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3.  函数 - JavaScript | MDN (概念通用)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3749039"/>
            <a:ext cx="99669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4.  C语言函数详解 - 头条科普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6035040"/>
            <a:ext cx="9966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i="1">
                <a:solidFill>
                  <a:srgbClr val="9999BB"/>
                </a:solidFill>
              </a:defRPr>
            </a:pPr>
            <a:r>
              <a:t>以上资源由讯飞ONE SEARCH智能搜索提供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4183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谢谢观看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0"/>
            <a:ext cx="9418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CCCCDD"/>
                </a:solidFill>
              </a:defRPr>
            </a:pPr>
            <a:r>
              <a:t>欢迎提问与交流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3200" b="1">
                <a:solidFill>
                  <a:srgbClr val="165DFF"/>
                </a:solidFill>
              </a:defRPr>
            </a:pPr>
            <a:r>
              <a:t>📚 全网搜索资源（共8条链接）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9601200" y="457200"/>
            <a:ext cx="1645920" cy="914400"/>
          </a:xfrm>
          <a:prstGeom prst="rect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/>
            </a:pPr>
            <a:r>
              <a:t>🔍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1.  函数（Function）</a:t>
            </a:r>
          </a:p>
          <a:p>
            <a:pPr>
              <a:defRPr sz="1200">
                <a:solidFill>
                  <a:srgbClr val="165DFF"/>
                </a:solidFill>
              </a:defRPr>
            </a:pPr>
            <a:r>
              <a:t>     🔗 https://blog.csdn.net/weixin_40191861/article/details/131718082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468880"/>
            <a:ext cx="99669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2.  基础定义</a:t>
            </a:r>
          </a:p>
          <a:p>
            <a:pPr>
              <a:defRPr sz="1200">
                <a:solidFill>
                  <a:srgbClr val="165DFF"/>
                </a:solidFill>
              </a:defRPr>
            </a:pPr>
            <a:r>
              <a:t>     🔗 https://baike.sogou.com/lemma/ShowInnerLink.htm?title=%E5%87%BD%E6%95%B0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108960"/>
            <a:ext cx="9966960" cy="54864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3.  函数 - JavaScript | MDN</a:t>
            </a:r>
          </a:p>
          <a:p>
            <a:pPr>
              <a:defRPr sz="1200">
                <a:solidFill>
                  <a:srgbClr val="165DFF"/>
                </a:solidFill>
              </a:defRPr>
            </a:pPr>
            <a:r>
              <a:t>     🔗 https://developer.mozilla.org/zh-CN/docs/Web/JavaScript/Guide/Functions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3749039"/>
            <a:ext cx="99669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4.  Function（函数）</a:t>
            </a:r>
          </a:p>
          <a:p>
            <a:pPr>
              <a:defRPr sz="1200">
                <a:solidFill>
                  <a:srgbClr val="165DFF"/>
                </a:solidFill>
              </a:defRPr>
            </a:pPr>
            <a:r>
              <a:t>     🔗 https://developer.mozilla.org/zh-CN/docs/Glossary/Function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4389120"/>
            <a:ext cx="9966960" cy="54864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5.  函数是什么意思,函数的意思解释,拼音怎么读-中华字典</a:t>
            </a:r>
          </a:p>
          <a:p>
            <a:pPr>
              <a:defRPr sz="1200">
                <a:solidFill>
                  <a:srgbClr val="165DFF"/>
                </a:solidFill>
              </a:defRPr>
            </a:pPr>
            <a:r>
              <a:t>     🔗 https://www.zhzidian.com/cidian/032Q2H6122023.html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5029200"/>
            <a:ext cx="99669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6.  什么是函数</a:t>
            </a:r>
          </a:p>
          <a:p>
            <a:pPr>
              <a:defRPr sz="1200">
                <a:solidFill>
                  <a:srgbClr val="165DFF"/>
                </a:solidFill>
              </a:defRPr>
            </a:pPr>
            <a:r>
              <a:t>     🔗 http://m.shicixi.com/shibaike-222667856.html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5669279"/>
            <a:ext cx="9966960" cy="54864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7.  函数</a:t>
            </a:r>
          </a:p>
          <a:p>
            <a:pPr>
              <a:defRPr sz="1200">
                <a:solidFill>
                  <a:srgbClr val="165DFF"/>
                </a:solidFill>
              </a:defRPr>
            </a:pPr>
            <a:r>
              <a:t>     🔗 http://m.toutiao.com/group/7634710994438177307/?upstream_biz=VolcEngine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6309359"/>
            <a:ext cx="99669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8.  [科普中国]-函数</a:t>
            </a:r>
          </a:p>
          <a:p>
            <a:pPr>
              <a:defRPr sz="1200">
                <a:solidFill>
                  <a:srgbClr val="165DFF"/>
                </a:solidFill>
              </a:defRPr>
            </a:pPr>
            <a:r>
              <a:t>     🔗 https://cloud.kepuchina.cn/h5/detail?id=6972617898805878784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6035040"/>
            <a:ext cx="9966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i="1">
                <a:solidFill>
                  <a:srgbClr val="9999BB"/>
                </a:solidFill>
              </a:defRPr>
            </a:pPr>
            <a:r>
              <a:t>以上资源由讯飞ONE SEARCH智能搜索提供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